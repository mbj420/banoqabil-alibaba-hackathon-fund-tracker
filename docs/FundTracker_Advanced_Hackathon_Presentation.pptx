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914400"/>
            <a:ext cx="4754880" cy="5029200"/>
          </a:xfrm>
          <a:prstGeom prst="roundRect">
            <a:avLst/>
          </a:prstGeom>
          <a:solidFill>
            <a:srgbClr val="0E12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3200"/>
            </a:pPr>
            <a:r>
              <a:t>📷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APP DASHBOARD HERO SCREENSHOT</a:t>
            </a:r>
          </a:p>
          <a:p>
            <a:pPr algn="ctr">
              <a:defRPr sz="1000">
                <a:solidFill>
                  <a:srgbClr val="A1A1AA"/>
                </a:solidFill>
                <a:latin typeface="Segoe UI"/>
              </a:defRPr>
            </a:pPr>
            <a:r>
              <a:t>(Paste hero screenshot of FundTracker UI or portfolio growth chart)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00584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FundTracker Advanced:</a:t>
            </a:r>
          </a:p>
          <a:p>
            <a:pPr>
              <a:spcAft>
                <a:spcPts val="2200"/>
              </a:spcAft>
              <a:defRPr sz="2800" b="1">
                <a:solidFill>
                  <a:srgbClr val="10B981"/>
                </a:solidFill>
                <a:latin typeface="Segoe UI"/>
              </a:defRPr>
            </a:pPr>
            <a:r>
              <a:t>AI-Powered Wealth &amp; Shariah Intelligence</a:t>
            </a:r>
          </a:p>
          <a:p>
            <a:pPr>
              <a:spcAft>
                <a:spcPts val="1400"/>
              </a:spcAft>
              <a:defRPr sz="1450">
                <a:solidFill>
                  <a:srgbClr val="A1A1AA"/>
                </a:solidFill>
                <a:latin typeface="Segoe UI"/>
              </a:defRPr>
            </a:pPr>
            <a:r>
              <a:t>BanoQabil × Alibaba Cloud AI Hackathon Pakistan</a:t>
            </a:r>
          </a:p>
          <a:p>
            <a:pPr>
              <a:spcAft>
                <a:spcPts val="1400"/>
              </a:spcAft>
              <a:defRPr sz="13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Team: </a:t>
            </a:r>
            <a:r>
              <a:rPr>
                <a:solidFill>
                  <a:srgbClr val="A1A1AA"/>
                </a:solidFill>
              </a:rPr>
              <a:t>Fund Tracker  |  </a:t>
            </a:r>
            <a:r>
              <a:rPr b="1">
                <a:solidFill>
                  <a:srgbClr val="FFFFFF"/>
                </a:solidFill>
              </a:rPr>
              <a:t>ID: </a:t>
            </a:r>
            <a:r>
              <a:rPr>
                <a:solidFill>
                  <a:srgbClr val="A1A1AA"/>
                </a:solidFill>
              </a:rPr>
              <a:t>P01090  |  </a:t>
            </a:r>
            <a:r>
              <a:rPr b="1">
                <a:solidFill>
                  <a:srgbClr val="FFFFFF"/>
                </a:solidFill>
              </a:rPr>
              <a:t>Lead: </a:t>
            </a:r>
            <a:r>
              <a:rPr>
                <a:solidFill>
                  <a:srgbClr val="A1A1AA"/>
                </a:solidFill>
              </a:rPr>
              <a:t>Muhammad Bin Jamil</a:t>
            </a:r>
          </a:p>
          <a:p>
            <a:pPr>
              <a:defRPr sz="13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Repository: </a:t>
            </a:r>
            <a:r>
              <a:rPr>
                <a:solidFill>
                  <a:srgbClr val="10B981"/>
                </a:solidFill>
              </a:rPr>
              <a:t>github.com/MBJ420/banoqabil-alibaba-hackathon-fund-tracker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3657600" cy="5394960"/>
          </a:xfrm>
          <a:prstGeom prst="roundRect">
            <a:avLst/>
          </a:prstGeom>
          <a:solidFill>
            <a:srgbClr val="0E12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3200"/>
            </a:pPr>
            <a:r>
              <a:t>📷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FEATURE PHOTO / APP VISUAL</a:t>
            </a:r>
          </a:p>
          <a:p>
            <a:pPr algn="ctr">
              <a:defRPr sz="1000">
                <a:solidFill>
                  <a:srgbClr val="A1A1AA"/>
                </a:solidFill>
                <a:latin typeface="Segoe UI"/>
              </a:defRPr>
            </a:pPr>
            <a:r>
              <a:t>(Insert architecture visual, multi-AMC summary, or UI graphic)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731520"/>
            <a:ext cx="4389120" cy="310896"/>
          </a:xfrm>
          <a:prstGeom prst="roundRect">
            <a:avLst/>
          </a:prstGeom>
          <a:solidFill>
            <a:srgbClr val="12161D"/>
          </a:solidFill>
          <a:ln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PAKISTAN'S FIRST LOCAL-FIRST AI WEALTH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078992"/>
            <a:ext cx="6766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Executive Overview &amp; Platform 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645920"/>
            <a:ext cx="6766560" cy="1115568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28016"/>
          <a:lstStyle/>
          <a:p>
            <a:pPr algn="ctr">
              <a:spcAft>
                <a:spcPts val="3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Core Mission</a:t>
            </a:r>
          </a:p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Turning scattered bank PDF statements and macroeconomic shifts into clear, inflation-beating, tax-optimized wealth decisions for Pakistani retail investors.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834640"/>
            <a:ext cx="6766560" cy="1115568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28016"/>
          <a:lstStyle/>
          <a:p>
            <a:pPr algn="ctr">
              <a:spcAft>
                <a:spcPts val="3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Target Audience</a:t>
            </a:r>
          </a:p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Retail and Islamic finance investors holding units across Pakistan's top AMCs — Al Meezan, HBL Asset Management, Atlas Funds, and Faysal Funds.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4023360"/>
            <a:ext cx="6766560" cy="1115568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28016"/>
          <a:lstStyle/>
          <a:p>
            <a:pPr algn="ctr">
              <a:spcAft>
                <a:spcPts val="3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Key Breakthrough</a:t>
            </a:r>
          </a:p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Automated PDF statement parsing with missing P&amp;L calculation, daily headless MUFAP scraping (210+ funds), AAOIFI Shariah Zakat, and 100% Alibaba Cloud Qwen 2.5 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5212080"/>
            <a:ext cx="6766560" cy="1115568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28016"/>
          <a:lstStyle/>
          <a:p>
            <a:pPr algn="ctr">
              <a:spcAft>
                <a:spcPts val="3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Inclusive Access</a:t>
            </a:r>
          </a:p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Full Roman Urdu localization and conversational AI Copilot, eliminating complex English jargon for retail investors.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310896"/>
          </a:xfrm>
          <a:prstGeom prst="roundRect">
            <a:avLst/>
          </a:prstGeom>
          <a:solidFill>
            <a:srgbClr val="12161D"/>
          </a:solidFill>
          <a:ln w="12700"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MARKET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Core Problems: Why Pakistani Investors Lose Wealth in Silence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36192"/>
            <a:ext cx="3968496" cy="4791456"/>
          </a:xfrm>
          <a:prstGeom prst="roundRect">
            <a:avLst/>
          </a:prstGeom>
          <a:solidFill>
            <a:srgbClr val="181B2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LIDE3_CORE_PROBLEMS_VISU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393192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937760" y="1554480"/>
            <a:ext cx="6492240" cy="1115568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28016"/>
          <a:lstStyle/>
          <a:p>
            <a:pPr algn="ctr">
              <a:spcAft>
                <a:spcPts val="3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1. Missing P&amp;L &amp; Statement Blindness</a:t>
            </a:r>
          </a:p>
          <a:p>
            <a:pPr>
              <a:defRPr sz="1150">
                <a:solidFill>
                  <a:srgbClr val="A1A1AA"/>
                </a:solidFill>
                <a:latin typeface="Segoe UI"/>
              </a:defRPr>
            </a:pPr>
            <a:r>
              <a:t>Most AMC statements (e.g. HBL) omit cumulative profit/loss and purchase costs. Multi-portal tracking in Excel is tedious, error-prone, and instantly stale.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2743200"/>
            <a:ext cx="6492240" cy="1115568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28016"/>
          <a:lstStyle/>
          <a:p>
            <a:pPr algn="ctr">
              <a:spcAft>
                <a:spcPts val="3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2. The Discovery Gap &amp; 1.5–3.5% Fee Drag</a:t>
            </a:r>
          </a:p>
          <a:p>
            <a:pPr>
              <a:defRPr sz="1150">
                <a:solidFill>
                  <a:srgbClr val="A1A1AA"/>
                </a:solidFill>
                <a:latin typeface="Segoe UI"/>
              </a:defRPr>
            </a:pPr>
            <a:r>
              <a:t>Over 200+ mutual funds exist, yet investors lack tools to discover superior funds, unknowingly losing compound wealth to high Total Expense Ratios.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3931920"/>
            <a:ext cx="6492240" cy="1115568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28016"/>
          <a:lstStyle/>
          <a:p>
            <a:pPr algn="ctr">
              <a:spcAft>
                <a:spcPts val="3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3. Double-Digit Inflation &amp; News Overload</a:t>
            </a:r>
          </a:p>
          <a:p>
            <a:pPr>
              <a:defRPr sz="1150">
                <a:solidFill>
                  <a:srgbClr val="A1A1AA"/>
                </a:solidFill>
                <a:latin typeface="Segoe UI"/>
              </a:defRPr>
            </a:pPr>
            <a:r>
              <a:t>CPI inflation (12–29%) silently destroys real purchasing power, while reading voluminous economic news articles daily is exhausting and time-consuming.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5120640"/>
            <a:ext cx="6492240" cy="1115568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128016"/>
          <a:lstStyle/>
          <a:p>
            <a:pPr algn="ctr">
              <a:spcAft>
                <a:spcPts val="300"/>
              </a:spcAft>
              <a:defRPr sz="1500" b="1">
                <a:solidFill>
                  <a:srgbClr val="10B981"/>
                </a:solidFill>
                <a:latin typeface="Segoe UI"/>
              </a:defRPr>
            </a:pPr>
            <a:r>
              <a:t>4. Complex Shariah Zakat &amp; Jargon Barriers</a:t>
            </a:r>
          </a:p>
          <a:p>
            <a:pPr>
              <a:defRPr sz="1150">
                <a:solidFill>
                  <a:srgbClr val="A1A1AA"/>
                </a:solidFill>
                <a:latin typeface="Segoe UI"/>
              </a:defRPr>
            </a:pPr>
            <a:r>
              <a:t>Calculating Zakat on equity funds requires complex working-capital deductions. Institutional English jargon alienates first-time investors.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310896"/>
          </a:xfrm>
          <a:prstGeom prst="roundRect">
            <a:avLst/>
          </a:prstGeom>
          <a:solidFill>
            <a:srgbClr val="12161D"/>
          </a:solidFill>
          <a:ln w="12700"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INSTITUTIONAL WEALTH INTELLIGENCE DELIVERED TO YOUR LOCAL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Solution: FundTracker Advanced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28600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400"/>
              </a:spcAft>
              <a:defRPr sz="2400"/>
            </a:pPr>
            <a:r>
              <a:t>📊</a:t>
            </a:r>
          </a:p>
          <a:p>
            <a:pPr>
              <a:spcAft>
                <a:spcPts val="400"/>
              </a:spcAft>
              <a:defRPr sz="1550" b="1">
                <a:solidFill>
                  <a:srgbClr val="FFFFFF"/>
                </a:solidFill>
                <a:latin typeface="Segoe UI"/>
              </a:defRPr>
            </a:pPr>
            <a:r>
              <a:t>Unified Multi-AMC &amp; P&amp;L Tracker</a:t>
            </a:r>
          </a:p>
          <a:p>
            <a:pPr>
              <a:defRPr sz="1150">
                <a:solidFill>
                  <a:srgbClr val="A1A1AA"/>
                </a:solidFill>
                <a:latin typeface="Segoe UI"/>
              </a:defRPr>
            </a:pPr>
            <a:r>
              <a:t>Consolidates Meezan, HBL, Atlas, and Faysal accounts into one screen; computes missing profit/loss, cost basis, and real yields.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228600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400"/>
              </a:spcAft>
              <a:defRPr sz="2400"/>
            </a:pPr>
            <a:r>
              <a:t>💻</a:t>
            </a:r>
          </a:p>
          <a:p>
            <a:pPr>
              <a:spcAft>
                <a:spcPts val="400"/>
              </a:spcAft>
              <a:defRPr sz="1550" b="1">
                <a:solidFill>
                  <a:srgbClr val="FFFFFF"/>
                </a:solidFill>
                <a:latin typeface="Segoe UI"/>
              </a:defRPr>
            </a:pPr>
            <a:r>
              <a:t>Local-First &amp; Absolute Privacy</a:t>
            </a:r>
          </a:p>
          <a:p>
            <a:pPr>
              <a:defRPr sz="1150">
                <a:solidFill>
                  <a:srgbClr val="A1A1AA"/>
                </a:solidFill>
                <a:latin typeface="Segoe UI"/>
              </a:defRPr>
            </a:pPr>
            <a:r>
              <a:t>Runs locally on Electron &amp; SQLite WAL. Sensitive monetary balances, CNIC, and bank account numbers never leave the user's PC.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228600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400"/>
              </a:spcAft>
              <a:defRPr sz="2400"/>
            </a:pPr>
            <a:r>
              <a:t>📄</a:t>
            </a:r>
          </a:p>
          <a:p>
            <a:pPr>
              <a:spcAft>
                <a:spcPts val="400"/>
              </a:spcAft>
              <a:defRPr sz="1550" b="1">
                <a:solidFill>
                  <a:srgbClr val="FFFFFF"/>
                </a:solidFill>
                <a:latin typeface="Segoe UI"/>
              </a:defRPr>
            </a:pPr>
            <a:r>
              <a:t>Automated Statement Ingestion</a:t>
            </a:r>
          </a:p>
          <a:p>
            <a:pPr>
              <a:defRPr sz="1150">
                <a:solidFill>
                  <a:srgbClr val="A1A1AA"/>
                </a:solidFill>
                <a:latin typeface="Segoe UI"/>
              </a:defRPr>
            </a:pPr>
            <a:r>
              <a:t>Watches folders for bank e-statement PDFs; extracts fund units, purchase values, and closing balances without manual typing.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3474720" cy="228600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400"/>
              </a:spcAft>
              <a:defRPr sz="2400"/>
            </a:pPr>
            <a:r>
              <a:t>🕌</a:t>
            </a:r>
          </a:p>
          <a:p>
            <a:pPr>
              <a:spcAft>
                <a:spcPts val="400"/>
              </a:spcAft>
              <a:defRPr sz="1550" b="1">
                <a:solidFill>
                  <a:srgbClr val="FFFFFF"/>
                </a:solidFill>
                <a:latin typeface="Segoe UI"/>
              </a:defRPr>
            </a:pPr>
            <a:r>
              <a:t>AAOIFI Shariah Zakat Terminal</a:t>
            </a:r>
          </a:p>
          <a:p>
            <a:pPr>
              <a:defRPr sz="1150">
                <a:solidFill>
                  <a:srgbClr val="A1A1AA"/>
                </a:solidFill>
                <a:latin typeface="Segoe UI"/>
              </a:defRPr>
            </a:pPr>
            <a:r>
              <a:t>Dynamically deducts illiquid fixed assets (~28% working capital ratio on equities) and computes lunar/solar Zakat and Nisab.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77639"/>
            <a:ext cx="3474720" cy="228600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400"/>
              </a:spcAft>
              <a:defRPr sz="2400"/>
            </a:pPr>
            <a:r>
              <a:t>📈</a:t>
            </a:r>
          </a:p>
          <a:p>
            <a:pPr>
              <a:spcAft>
                <a:spcPts val="400"/>
              </a:spcAft>
              <a:defRPr sz="1550" b="1">
                <a:solidFill>
                  <a:srgbClr val="FFFFFF"/>
                </a:solidFill>
                <a:latin typeface="Segoe UI"/>
              </a:defRPr>
            </a:pPr>
            <a:r>
              <a:t>Live MUFAP Scraper &amp; Discovery</a:t>
            </a:r>
          </a:p>
          <a:p>
            <a:pPr>
              <a:defRPr sz="1150">
                <a:solidFill>
                  <a:srgbClr val="A1A1AA"/>
                </a:solidFill>
                <a:latin typeface="Segoe UI"/>
              </a:defRPr>
            </a:pPr>
            <a:r>
              <a:t>Scrapes daily closing NAVs for 210+ funds; benchmarks holdings against top-quartile peers to reveal outperforming alternatives.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77639"/>
            <a:ext cx="3474720" cy="228600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400"/>
              </a:spcAft>
              <a:defRPr sz="2400"/>
            </a:pPr>
            <a:r>
              <a:t>🤖</a:t>
            </a:r>
          </a:p>
          <a:p>
            <a:pPr>
              <a:spcAft>
                <a:spcPts val="400"/>
              </a:spcAft>
              <a:defRPr sz="1550" b="1">
                <a:solidFill>
                  <a:srgbClr val="FFFFFF"/>
                </a:solidFill>
                <a:latin typeface="Segoe UI"/>
              </a:defRPr>
            </a:pPr>
            <a:r>
              <a:t>100% Alibaba Cloud &amp; Roman Urdu</a:t>
            </a:r>
          </a:p>
          <a:p>
            <a:pPr>
              <a:defRPr sz="1150">
                <a:solidFill>
                  <a:srgbClr val="A1A1AA"/>
                </a:solidFill>
                <a:latin typeface="Segoe UI"/>
              </a:defRPr>
            </a:pPr>
            <a:r>
              <a:t>Qwen 2.5 powers two-pass macro news impact forecasting and conversational advice natively in English and Roman Urdu.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310896"/>
          </a:xfrm>
          <a:prstGeom prst="roundRect">
            <a:avLst/>
          </a:prstGeom>
          <a:solidFill>
            <a:srgbClr val="12161D"/>
          </a:solidFill>
          <a:ln w="12700"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ELIMINATING MANUAL EXCEL &amp; STATEMENT BLINDNESS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Automated Statement Ingestion &amp; P&amp;L Reconstruction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How the Ingestion Engine Operates</a:t>
            </a:r>
          </a:p>
          <a:p>
            <a:pPr>
              <a:spcAft>
                <a:spcPts val="1100"/>
              </a:spcAft>
              <a:defRPr sz="12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Watchdog Folder Monitor: </a:t>
            </a:r>
            <a:r>
              <a:rPr>
                <a:solidFill>
                  <a:srgbClr val="A1A1AA"/>
                </a:solidFill>
              </a:rPr>
              <a:t>Watches 'Fund Tracker PDF Data/' subfolders (Meezan, HBL, Atlas, Faysal) and ingests new statements automatically.</a:t>
            </a:r>
          </a:p>
          <a:p>
            <a:pPr>
              <a:spcAft>
                <a:spcPts val="1100"/>
              </a:spcAft>
              <a:defRPr sz="12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Native pdfplumber Extraction: </a:t>
            </a:r>
            <a:r>
              <a:rPr>
                <a:solidFill>
                  <a:srgbClr val="A1A1AA"/>
                </a:solidFill>
              </a:rPr>
              <a:t>Extracts digital text layers directly without external OCR latency or cloud privacy exposure.</a:t>
            </a:r>
          </a:p>
          <a:p>
            <a:pPr>
              <a:spcAft>
                <a:spcPts val="1100"/>
              </a:spcAft>
              <a:defRPr sz="12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Missing P&amp;L Ledger Reconstruction: </a:t>
            </a:r>
            <a:r>
              <a:rPr>
                <a:solidFill>
                  <a:srgbClr val="A1A1AA"/>
                </a:solidFill>
              </a:rPr>
              <a:t>Reconstructs cost basis and unrealized gain/loss for AMCs like HBL that omit profit on statements: P&amp;L = (Current NAV - Cost NAV) × Units.</a:t>
            </a:r>
          </a:p>
          <a:p>
            <a:pPr>
              <a:spcAft>
                <a:spcPts val="1100"/>
              </a:spcAft>
              <a:defRPr sz="12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Auditable SQLite Ledger: </a:t>
            </a:r>
            <a:r>
              <a:rPr>
                <a:solidFill>
                  <a:srgbClr val="A1A1AA"/>
                </a:solidFill>
              </a:rPr>
              <a:t>Stores historical statements for instant auditing, editing, or re-parsing anytime.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0E12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3200"/>
            </a:pPr>
            <a:r>
              <a:t>📷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STATEMENT UPLOAD &amp; P&amp;L RECONCILER GUI</a:t>
            </a:r>
          </a:p>
          <a:p>
            <a:pPr algn="ctr">
              <a:defRPr sz="1000">
                <a:solidFill>
                  <a:srgbClr val="A1A1AA"/>
                </a:solidFill>
                <a:latin typeface="Segoe UI"/>
              </a:defRPr>
            </a:pPr>
            <a:r>
              <a:t>(Insert screenshot of PortfolioDataManagerModal or Statement Ledger UI)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310896"/>
          </a:xfrm>
          <a:prstGeom prst="roundRect">
            <a:avLst/>
          </a:prstGeom>
          <a:solidFill>
            <a:srgbClr val="12161D"/>
          </a:solidFill>
          <a:ln w="12700"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AUTOMATED HEADLESS BROWSER INGESTION &amp; PEER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Daily MUFAP Headless Scraper &amp; Outperformer Discovery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Market Grounding &amp; Peer Intelligence</a:t>
            </a:r>
          </a:p>
          <a:p>
            <a:pPr>
              <a:spcAft>
                <a:spcPts val="1100"/>
              </a:spcAft>
              <a:defRPr sz="12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The Web Challenge: </a:t>
            </a:r>
            <a:r>
              <a:rPr>
                <a:solidFill>
                  <a:srgbClr val="A1A1AA"/>
                </a:solidFill>
              </a:rPr>
              <a:t>MUFAP renders tables dynamically via JavaScript and employs Cloudflare bot mitigation. Standard HTTP GET requests fail with 403 Forbidden.</a:t>
            </a:r>
          </a:p>
          <a:p>
            <a:pPr>
              <a:spcAft>
                <a:spcPts val="1100"/>
              </a:spcAft>
              <a:defRPr sz="12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Playwright Headless Chromium: </a:t>
            </a:r>
            <a:r>
              <a:rPr>
                <a:solidFill>
                  <a:srgbClr val="A1A1AA"/>
                </a:solidFill>
              </a:rPr>
              <a:t>Automated browser engine with realistic user headers and WindowsProactorEventLoopPolicy reliably extracts tables.</a:t>
            </a:r>
          </a:p>
          <a:p>
            <a:pPr>
              <a:spcAft>
                <a:spcPts val="1100"/>
              </a:spcAft>
              <a:defRPr sz="12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Daily 6:00 PM PKT Cron: </a:t>
            </a:r>
            <a:r>
              <a:rPr>
                <a:solidFill>
                  <a:srgbClr val="A1A1AA"/>
                </a:solidFill>
              </a:rPr>
              <a:t>APScheduler triggers once daily when AMCs upload closing valuations, syncing 210+ mutual funds with zero manual work.</a:t>
            </a:r>
          </a:p>
          <a:p>
            <a:pPr>
              <a:spcAft>
                <a:spcPts val="1100"/>
              </a:spcAft>
              <a:defRPr sz="12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Cross-AMC Outperformer Discovery: </a:t>
            </a:r>
            <a:r>
              <a:rPr>
                <a:solidFill>
                  <a:srgbClr val="A1A1AA"/>
                </a:solidFill>
              </a:rPr>
              <a:t>Scans same-category peers (Equity, Cash, Sukuk) and alerts investors if a peer fund generates superior Sharpe ratio or yields.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0E12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3200"/>
            </a:pPr>
            <a:r>
              <a:t>📷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FUND PERFORMANCE &amp; PEER DISCOVERY GUI</a:t>
            </a:r>
          </a:p>
          <a:p>
            <a:pPr algn="ctr">
              <a:defRPr sz="1000">
                <a:solidFill>
                  <a:srgbClr val="A1A1AA"/>
                </a:solidFill>
                <a:latin typeface="Segoe UI"/>
              </a:defRPr>
            </a:pPr>
            <a:r>
              <a:t>(Insert screenshot of fund performance table or outperformer suggestion card)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310896"/>
          </a:xfrm>
          <a:prstGeom prst="roundRect">
            <a:avLst/>
          </a:prstGeom>
          <a:solidFill>
            <a:srgbClr val="12161D"/>
          </a:solidFill>
          <a:ln w="12700"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ENTERPRISE CLOUD AI DELIVERING SOVEREIGN FINANCIAL INTELLIGENCE — INTEGRATED VIA DASHSCOPE API (QWEN-PLUS / QWEN-MAX)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100% Alibaba Cloud Model Studio (Qwen 2.5) AI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47548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  <a:p>
            <a:pPr>
              <a:spcAft>
                <a:spcPts val="14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FMR Document Parser</a:t>
            </a:r>
          </a:p>
          <a:p>
            <a:pPr>
              <a:spcAft>
                <a:spcPts val="1100"/>
              </a:spcAft>
              <a:defRPr sz="1150">
                <a:solidFill>
                  <a:srgbClr val="A1A1AA"/>
                </a:solidFill>
                <a:latin typeface="Segoe UI"/>
              </a:defRPr>
            </a:pPr>
            <a:r>
              <a:t>Combines PyMuPDF (fitz) text extraction with Qwen 2.5 structured JSON formatting.</a:t>
            </a:r>
          </a:p>
          <a:p>
            <a:pPr>
              <a:spcAft>
                <a:spcPts val="1100"/>
              </a:spcAft>
              <a:defRPr sz="1150">
                <a:solidFill>
                  <a:srgbClr val="A1A1AA"/>
                </a:solidFill>
                <a:latin typeface="Segoe UI"/>
              </a:defRPr>
            </a:pPr>
            <a:r>
              <a:t>Extracts fund risk ratings (Low/Moderate/High), asset allocation strings, and historical returns from monthly PDF Fund Manager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47548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  <a:p>
            <a:pPr>
              <a:spcAft>
                <a:spcPts val="14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Two-Pass Macro News Engine</a:t>
            </a:r>
          </a:p>
          <a:p>
            <a:pPr>
              <a:spcAft>
                <a:spcPts val="1100"/>
              </a:spcAft>
              <a:defRPr sz="1150">
                <a:solidFill>
                  <a:srgbClr val="A1A1AA"/>
                </a:solidFill>
                <a:latin typeface="Segoe UI"/>
              </a:defRPr>
            </a:pPr>
            <a:r>
              <a:t>Pass 1 (World Context): Qwen 2.5 tracks ongoing macro developments (SBP Policy Rate, IMF loans) in persistent memory using KEEP, AMEND, RESOLVE directives.</a:t>
            </a:r>
          </a:p>
          <a:p>
            <a:pPr>
              <a:spcAft>
                <a:spcPts val="1100"/>
              </a:spcAft>
              <a:defRPr sz="1150">
                <a:solidFill>
                  <a:srgbClr val="A1A1AA"/>
                </a:solidFill>
                <a:latin typeface="Segoe UI"/>
              </a:defRPr>
            </a:pPr>
            <a:r>
              <a:t>Pass 2 (Sector Impact): Forecasts market direction (Bullish/Bearish) and impact scores (0-10) across Equities, Money Market, and Gold over Short, Med, and Long horizons.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47548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19456"/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  <a:p>
            <a:pPr>
              <a:spcAft>
                <a:spcPts val="14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Zero-Knowledge Copilot</a:t>
            </a:r>
          </a:p>
          <a:p>
            <a:pPr>
              <a:spcAft>
                <a:spcPts val="1100"/>
              </a:spcAft>
              <a:defRPr sz="1150">
                <a:solidFill>
                  <a:srgbClr val="A1A1AA"/>
                </a:solidFill>
                <a:latin typeface="Segoe UI"/>
              </a:defRPr>
            </a:pPr>
            <a:r>
              <a:t>Structured reasoning over asset concentration, macro drift, and fee drag under an airtight zero-knowledge contract.</a:t>
            </a:r>
          </a:p>
          <a:p>
            <a:pPr>
              <a:spcAft>
                <a:spcPts val="1100"/>
              </a:spcAft>
              <a:defRPr sz="1150">
                <a:solidFill>
                  <a:srgbClr val="A1A1AA"/>
                </a:solidFill>
                <a:latin typeface="Segoe UI"/>
              </a:defRPr>
            </a:pPr>
            <a:r>
              <a:t>Generates ranked rebalancing recommendations and portfolio health scores (0-100) natively in English and Roman Urdu.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310896"/>
          </a:xfrm>
          <a:prstGeom prst="roundRect">
            <a:avLst/>
          </a:prstGeom>
          <a:solidFill>
            <a:srgbClr val="12161D"/>
          </a:solidFill>
          <a:ln w="12700"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ABSOLUTE MATHEMATICAL PRIVACY VIA LOCAL SANITIZATION ENVELOPES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Zero-Knowledge AI Financial Privacy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47548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/>
          <a:lstStyle/>
          <a:p>
            <a:pPr algn="ctr">
              <a:spcAft>
                <a:spcPts val="2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Stage 1: Local Data Store</a:t>
            </a:r>
          </a:p>
          <a:p>
            <a:pPr>
              <a:spcAft>
                <a:spcPts val="16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ON USER MACHINE ONLY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Raw bank statements parsed into local SQLite.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Total Net Worth: PKR 4,850,000.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Account numbers, CNIC, and holder name.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Strictly quarantined on the user's PC.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NEVER transmitted over the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47548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/>
          <a:lstStyle/>
          <a:p>
            <a:pPr algn="ctr">
              <a:spcAft>
                <a:spcPts val="2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Stage 2: Sanitization Filter</a:t>
            </a:r>
          </a:p>
          <a:p>
            <a:pPr>
              <a:spcAft>
                <a:spcPts val="16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LOCAL BACKEND SHIELD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Backend strips ALL PKR currency balances.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Strips account numbers and user identities.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Calculates relative % allocations only.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Example: Equity 58.4%, Money Market 41.6%.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Appends live macro market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47548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/>
          <a:lstStyle/>
          <a:p>
            <a:pPr algn="ctr">
              <a:spcAft>
                <a:spcPts val="2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Stage 3: Cloud Reasoning</a:t>
            </a:r>
          </a:p>
          <a:p>
            <a:pPr>
              <a:spcAft>
                <a:spcPts val="16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ALIBABA CLOUD DASHSCOPE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Cloud model receives sanitized % values only.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Evaluates risk score (0-100) &amp; asset drift.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Contextualizes with SBP interest rate cycle.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Outputs strictly validated JSON diagnosis.</a:t>
            </a:r>
          </a:p>
          <a:p>
            <a:pPr>
              <a:spcAft>
                <a:spcPts val="8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Zero personal wealth data ever exposed.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310896"/>
          </a:xfrm>
          <a:prstGeom prst="roundRect">
            <a:avLst/>
          </a:prstGeom>
          <a:solidFill>
            <a:srgbClr val="12161D"/>
          </a:solidFill>
          <a:ln w="12700"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DYNAMIC WORKING CAPITAL DEDUCTIONS FOR EQUITY &amp; HYBRID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AAOIFI Shariah-Compliant Zakat &amp; Purification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Authentic Shariah Implementation</a:t>
            </a:r>
          </a:p>
          <a:p>
            <a:pPr>
              <a:spcAft>
                <a:spcPts val="700"/>
              </a:spcAft>
              <a:defRPr sz="11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The Fiqh Ruling (AAOIFI Standard 35): </a:t>
            </a:r>
            <a:r>
              <a:rPr>
                <a:solidFill>
                  <a:srgbClr val="A1A1AA"/>
                </a:solidFill>
              </a:rPr>
              <a:t>Shares represent business ownership. Zakat is due ONLY on liquid working capital (cash, receivables, inventory), NOT on illiquid fixed assets (plants, land, machinery).</a:t>
            </a:r>
          </a:p>
          <a:p>
            <a:pPr>
              <a:spcAft>
                <a:spcPts val="700"/>
              </a:spcAft>
              <a:defRPr sz="11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Dynamic Equity Working Capital Deduction: </a:t>
            </a:r>
            <a:r>
              <a:rPr>
                <a:solidFill>
                  <a:srgbClr val="A1A1AA"/>
                </a:solidFill>
              </a:rPr>
              <a:t>Applies a prudent ~28% ceiling on equity fund values (Zakatable Base = Market Value × 28%), while applying 100% to liquid cash and Sukuk funds.</a:t>
            </a:r>
          </a:p>
          <a:p>
            <a:pPr>
              <a:spcAft>
                <a:spcPts val="700"/>
              </a:spcAft>
              <a:defRPr sz="11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Balanced Funds Blended Ratio: </a:t>
            </a:r>
            <a:r>
              <a:rPr>
                <a:solidFill>
                  <a:srgbClr val="A1A1AA"/>
                </a:solidFill>
              </a:rPr>
              <a:t>Applies 70% cash/debt (100%) + 30% equity (28%), creating an effective ~64% blended zakatable ratio.</a:t>
            </a:r>
          </a:p>
          <a:p>
            <a:pPr>
              <a:spcAft>
                <a:spcPts val="700"/>
              </a:spcAft>
              <a:defRPr sz="11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Nisab &amp; Calendar Standards: </a:t>
            </a:r>
            <a:r>
              <a:rPr>
                <a:solidFill>
                  <a:srgbClr val="A1A1AA"/>
                </a:solidFill>
              </a:rPr>
              <a:t>Live/configurable Silver (52.5 tolas) and Gold (7.5 tolas) thresholds; supports Lunar Hijri (2.5%) and Solar Gregorian (2.577%) calendars.</a:t>
            </a:r>
          </a:p>
          <a:p>
            <a:pPr>
              <a:spcAft>
                <a:spcPts val="700"/>
              </a:spcAft>
              <a:defRPr sz="11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Section 60 Tax Deduction Certificate: </a:t>
            </a:r>
            <a:r>
              <a:rPr>
                <a:solidFill>
                  <a:srgbClr val="A1A1AA"/>
                </a:solidFill>
              </a:rPr>
              <a:t>Generates printable certificates for claiming statutory income tax relief under Section 60 of the Income Tax Ordinance.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0E12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3200"/>
            </a:pPr>
            <a:r>
              <a:t>📷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SHARIAH ZAKAT TERMINAL GUI SCREENSHOT</a:t>
            </a:r>
          </a:p>
          <a:p>
            <a:pPr algn="ctr">
              <a:defRPr sz="1000">
                <a:solidFill>
                  <a:srgbClr val="A1A1AA"/>
                </a:solidFill>
                <a:latin typeface="Segoe UI"/>
              </a:defRPr>
            </a:pPr>
            <a:r>
              <a:t>(Insert screenshot of IslamicZakatModal.tsx (Nisab, holding table, and Zakat due))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310896"/>
          </a:xfrm>
          <a:prstGeom prst="roundRect">
            <a:avLst/>
          </a:prstGeom>
          <a:solidFill>
            <a:srgbClr val="12161D"/>
          </a:solidFill>
          <a:ln w="12700"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SOVEREIGN TAX LAW &amp; WEALTH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Finance Act 2024 Tax Optimizer &amp; Inflation Simulator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200"/>
              </a:spcAft>
              <a:defRPr sz="1700" b="1">
                <a:solidFill>
                  <a:srgbClr val="10B981"/>
                </a:solidFill>
                <a:latin typeface="Segoe UI"/>
              </a:defRPr>
            </a:pPr>
            <a:r>
              <a:t>Capital Gains &amp; Pension Optimization</a:t>
            </a:r>
          </a:p>
          <a:p>
            <a:pPr>
              <a:spcAft>
                <a:spcPts val="800"/>
              </a:spcAft>
              <a:defRPr sz="11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FBR 2024-25 Salaried Tax Slabs: </a:t>
            </a:r>
            <a:r>
              <a:rPr>
                <a:solidFill>
                  <a:srgbClr val="A1A1AA"/>
                </a:solidFill>
              </a:rPr>
              <a:t>Models tiered income tax brackets from 0% (up to Rs 600k) through 5%, 15%, 25%, 30%, up to 35% top bracket.</a:t>
            </a:r>
          </a:p>
          <a:p>
            <a:pPr>
              <a:spcAft>
                <a:spcPts val="800"/>
              </a:spcAft>
              <a:defRPr sz="11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Section 37A Capital Gains Tax: </a:t>
            </a:r>
            <a:r>
              <a:rPr>
                <a:solidFill>
                  <a:srgbClr val="A1A1AA"/>
                </a:solidFill>
              </a:rPr>
              <a:t>15% for Active Tax Filers vs 30% punitive rate for Non-Filers (100% tax surcharge).</a:t>
            </a:r>
          </a:p>
          <a:p>
            <a:pPr>
              <a:spcAft>
                <a:spcPts val="800"/>
              </a:spcAft>
              <a:defRPr sz="11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Tax-Loss Harvesting: </a:t>
            </a:r>
            <a:r>
              <a:rPr>
                <a:solidFill>
                  <a:srgbClr val="A1A1AA"/>
                </a:solidFill>
              </a:rPr>
              <a:t>Under FBR rules, losses on underperforming funds offset profits on winning funds before tax is calculated.</a:t>
            </a:r>
          </a:p>
          <a:p>
            <a:pPr>
              <a:spcAft>
                <a:spcPts val="800"/>
              </a:spcAft>
              <a:defRPr sz="11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Section 63 VPS Pension Advisor: </a:t>
            </a:r>
            <a:r>
              <a:rPr>
                <a:solidFill>
                  <a:srgbClr val="A1A1AA"/>
                </a:solidFill>
              </a:rPr>
              <a:t>Calculates exact rupee salary tax rebates when investing in approved pension funds (up to 20% taxable income relief).</a:t>
            </a:r>
          </a:p>
          <a:p>
            <a:pPr>
              <a:spcAft>
                <a:spcPts val="800"/>
              </a:spcAft>
              <a:defRPr sz="115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Inflation vs Investment Simulator: </a:t>
            </a:r>
            <a:r>
              <a:rPr>
                <a:solidFill>
                  <a:srgbClr val="A1A1AA"/>
                </a:solidFill>
              </a:rPr>
              <a:t>Fisher formulation: Real Purchasing Power = Nominal FV / (1 + CPI)^t based on SBP historical prints.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0E12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3200"/>
            </a:pPr>
            <a:r>
              <a:t>📷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TAX OPTIMIZER &amp; PENSION GUI SCREENSHOT</a:t>
            </a:r>
          </a:p>
          <a:p>
            <a:pPr algn="ctr">
              <a:defRPr sz="1000">
                <a:solidFill>
                  <a:srgbClr val="A1A1AA"/>
                </a:solidFill>
                <a:latin typeface="Segoe UI"/>
              </a:defRPr>
            </a:pPr>
            <a:r>
              <a:t>(Insert screenshot of TaxOptimizer.tsx (FBR slabs, Pension 20% Advisor))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310896"/>
          </a:xfrm>
          <a:prstGeom prst="roundRect">
            <a:avLst/>
          </a:prstGeom>
          <a:solidFill>
            <a:srgbClr val="12161D"/>
          </a:solidFill>
          <a:ln w="12700"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REVEALING WHETHER YOUR FUND MANAGER JUSTIFIES THEIR FEES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Benchmark Alpha &amp; Fee Drag Analyzer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389120" cy="393192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The Active vs Passive Dilemma</a:t>
            </a:r>
          </a:p>
          <a:p>
            <a:pPr>
              <a:spcAft>
                <a:spcPts val="1200"/>
              </a:spcAft>
              <a:defRPr sz="1150">
                <a:solidFill>
                  <a:srgbClr val="A1A1AA"/>
                </a:solidFill>
                <a:latin typeface="Segoe UI"/>
              </a:defRPr>
            </a:pPr>
            <a:r>
              <a:t>Pakistani asset managers charge 1.5% to 3.5% annually in Total Expense Ratios (TER). Over 10 years, a 3% fee consumes over 25% of compound returns.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Mathematical Formulations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10B981"/>
                </a:solidFill>
              </a:rPr>
              <a:t>• Gross Jensen's Alpha: </a:t>
            </a:r>
            <a:r>
              <a:rPr>
                <a:solidFill>
                  <a:srgbClr val="A1A1AA"/>
                </a:solidFill>
              </a:rPr>
              <a:t>Gross Alpha = Fund Return - Benchmark Return (vs KSE-100 / KMI-30).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10B981"/>
                </a:solidFill>
              </a:rPr>
              <a:t>• Net Alpha (Fee Drag): </a:t>
            </a:r>
            <a:r>
              <a:rPr>
                <a:solidFill>
                  <a:srgbClr val="A1A1AA"/>
                </a:solidFill>
              </a:rPr>
              <a:t>Net Alpha = Gross Alpha - Total Expense Ratio (TER).</a:t>
            </a:r>
          </a:p>
          <a:p>
            <a:pPr>
              <a:spcAft>
                <a:spcPts val="600"/>
              </a:spcAft>
              <a:defRPr sz="11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Sharpe Ratio: </a:t>
            </a:r>
            <a:r>
              <a:rPr>
                <a:solidFill>
                  <a:srgbClr val="A1A1AA"/>
                </a:solidFill>
              </a:rPr>
              <a:t>Risk-adjusted return relative to Pakistan's risk-free treasury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554480"/>
            <a:ext cx="6126480" cy="3931920"/>
          </a:xfrm>
          <a:prstGeom prst="roundRect">
            <a:avLst/>
          </a:prstGeom>
          <a:solidFill>
            <a:srgbClr val="0E12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3200"/>
            </a:pPr>
            <a:r>
              <a:t>📷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BENCHMARK ANALYZER GUI SCREENSHOT</a:t>
            </a:r>
          </a:p>
          <a:p>
            <a:pPr algn="ctr">
              <a:defRPr sz="1000">
                <a:solidFill>
                  <a:srgbClr val="A1A1AA"/>
                </a:solidFill>
                <a:latin typeface="Segoe UI"/>
              </a:defRPr>
            </a:pPr>
            <a:r>
              <a:t>(Insert screenshot of BenchmarkAnalyzer.tsx (alpha chart &amp; fee comparison table))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69280"/>
            <a:ext cx="3474720" cy="6400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Great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5669280"/>
            <a:ext cx="3474720" cy="6400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Fair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5669280"/>
            <a:ext cx="3474720" cy="6400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F4444"/>
                </a:solidFill>
                <a:latin typeface="Segoe UI"/>
              </a:defRPr>
            </a:pPr>
            <a:r>
              <a:t>Overpriced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310896"/>
          </a:xfrm>
          <a:prstGeom prst="roundRect">
            <a:avLst/>
          </a:prstGeom>
          <a:solidFill>
            <a:srgbClr val="12161D"/>
          </a:solidFill>
          <a:ln w="12700"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BREAKING DOWN JARGON BARRIERS FOR PAKISTANI RETAIL INVESTORS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Inclusive Financial Literacy &amp; Roman Urdu Localization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10B981"/>
                </a:solidFill>
                <a:latin typeface="Segoe UI"/>
              </a:defRPr>
            </a:pPr>
            <a:r>
              <a:t>Financial Inclusion Through Local Language</a:t>
            </a:r>
          </a:p>
          <a:p>
            <a:pPr>
              <a:spcAft>
                <a:spcPts val="1100"/>
              </a:spcAft>
              <a:defRPr sz="12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The Jargon Barrier: </a:t>
            </a:r>
            <a:r>
              <a:rPr>
                <a:solidFill>
                  <a:srgbClr val="A1A1AA"/>
                </a:solidFill>
              </a:rPr>
              <a:t>Financial terms like NAV, TER, Jensen's Alpha, and Asset Allocation intimidate retail investors who lack formal finance backgrounds.</a:t>
            </a:r>
          </a:p>
          <a:p>
            <a:pPr>
              <a:spcAft>
                <a:spcPts val="1100"/>
              </a:spcAft>
              <a:defRPr sz="12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Bilingual LanguageContext: </a:t>
            </a:r>
            <a:r>
              <a:rPr>
                <a:solidFill>
                  <a:srgbClr val="A1A1AA"/>
                </a:solidFill>
              </a:rPr>
              <a:t>Instant UI language toggle switching between English and intuitive Roman Urdu ('Maliyati Intelligence', 'Kul Nafa / Nuqsan', 'Mehngai Simulator').</a:t>
            </a:r>
          </a:p>
          <a:p>
            <a:pPr>
              <a:spcAft>
                <a:spcPts val="1100"/>
              </a:spcAft>
              <a:defRPr sz="12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Bilingual AI Copilot: </a:t>
            </a:r>
            <a:r>
              <a:rPr>
                <a:solidFill>
                  <a:srgbClr val="A1A1AA"/>
                </a:solidFill>
              </a:rPr>
              <a:t>Integrated /dashboard/copilot accepts questions and replies fluently in Roman Urdu, providing culturally grounded investment guidance.</a:t>
            </a:r>
          </a:p>
          <a:p>
            <a:pPr>
              <a:spcAft>
                <a:spcPts val="1100"/>
              </a:spcAft>
              <a:defRPr sz="12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Plain-Language Ratio Guides: </a:t>
            </a:r>
            <a:r>
              <a:rPr>
                <a:solidFill>
                  <a:srgbClr val="A1A1AA"/>
                </a:solidFill>
              </a:rPr>
              <a:t>Interactive tooltips and educational callouts explain how mutual funds work, enabling beginners to make informed, confident choices.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0E121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3200"/>
            </a:pPr>
            <a:r>
              <a:t>📷</a:t>
            </a:r>
          </a:p>
          <a:p>
            <a:pPr algn="ctr">
              <a:spcAft>
                <a:spcPts val="4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ROMAN URDU UI &amp; AI COPILOT SCREENSHOT</a:t>
            </a:r>
          </a:p>
          <a:p>
            <a:pPr algn="ctr">
              <a:defRPr sz="1000">
                <a:solidFill>
                  <a:srgbClr val="A1A1AA"/>
                </a:solidFill>
                <a:latin typeface="Segoe UI"/>
              </a:defRPr>
            </a:pPr>
            <a:r>
              <a:t>(Insert screenshot of Roman Urdu dashboard or FinancialCopilotModal in Urdu mode)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310896"/>
          </a:xfrm>
          <a:prstGeom prst="roundRect">
            <a:avLst/>
          </a:prstGeom>
          <a:solidFill>
            <a:srgbClr val="12161D"/>
          </a:solidFill>
          <a:ln w="12700"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FULL-STACK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Technical Architecture &amp; Concurrency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47548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/>
          <a:lstStyle/>
          <a:p>
            <a:pPr algn="ctr">
              <a:spcAft>
                <a:spcPts val="2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Desktop Client Layer</a:t>
            </a:r>
          </a:p>
          <a:p>
            <a:pPr>
              <a:spcAft>
                <a:spcPts val="14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Electron + React 18</a:t>
            </a:r>
          </a:p>
          <a:p>
            <a:pPr>
              <a:spcAft>
                <a:spcPts val="9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Native Electron window with no browser required</a:t>
            </a:r>
          </a:p>
          <a:p>
            <a:pPr>
              <a:spcAft>
                <a:spcPts val="9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React 18 + TypeScript bundled via Vite</a:t>
            </a:r>
          </a:p>
          <a:p>
            <a:pPr>
              <a:spcAft>
                <a:spcPts val="9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Bilingual LanguageContext (English ↔ Roman Urdu)</a:t>
            </a:r>
          </a:p>
          <a:p>
            <a:pPr>
              <a:spcAft>
                <a:spcPts val="9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ApexCharts interactive time-series NAV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47548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/>
          <a:lstStyle/>
          <a:p>
            <a:pPr algn="ctr">
              <a:spcAft>
                <a:spcPts val="2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Backend API Engine</a:t>
            </a:r>
          </a:p>
          <a:p>
            <a:pPr>
              <a:spcAft>
                <a:spcPts val="14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FastAPI + Python 3.12</a:t>
            </a:r>
          </a:p>
          <a:p>
            <a:pPr>
              <a:spcAft>
                <a:spcPts val="9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Asynchronous worker thread dispatching</a:t>
            </a:r>
          </a:p>
          <a:p>
            <a:pPr>
              <a:spcAft>
                <a:spcPts val="9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JWT auth &amp; multi-user portfolio scoping</a:t>
            </a:r>
          </a:p>
          <a:p>
            <a:pPr>
              <a:spcAft>
                <a:spcPts val="9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Batched query optimization (95% fewer DB calls)</a:t>
            </a:r>
          </a:p>
          <a:p>
            <a:pPr>
              <a:spcAft>
                <a:spcPts val="9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Argon2 password hashing &amp; input sanitizers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475488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28600"/>
          <a:lstStyle/>
          <a:p>
            <a:pPr algn="ctr">
              <a:spcAft>
                <a:spcPts val="200"/>
              </a:spcAft>
              <a:defRPr sz="1700" b="1">
                <a:solidFill>
                  <a:srgbClr val="FFFFFF"/>
                </a:solidFill>
                <a:latin typeface="Segoe UI"/>
              </a:defRPr>
            </a:pPr>
            <a:r>
              <a:t>Embedded Database</a:t>
            </a:r>
          </a:p>
          <a:p>
            <a:pPr>
              <a:spcAft>
                <a:spcPts val="14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SQLite in WAL Mode</a:t>
            </a:r>
          </a:p>
          <a:p>
            <a:pPr>
              <a:spcAft>
                <a:spcPts val="9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PRAGMA journal_mode=WAL (Zero Read Locks)</a:t>
            </a:r>
          </a:p>
          <a:p>
            <a:pPr>
              <a:spcAft>
                <a:spcPts val="9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PRAGMA busy_timeout=5000ms &amp; Synchronous Normal</a:t>
            </a:r>
          </a:p>
          <a:p>
            <a:pPr>
              <a:spcAft>
                <a:spcPts val="9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Composite indexes on (fund_id, date)</a:t>
            </a:r>
          </a:p>
          <a:p>
            <a:pPr>
              <a:spcAft>
                <a:spcPts val="900"/>
              </a:spcAft>
              <a:defRPr sz="1200">
                <a:solidFill>
                  <a:srgbClr val="A1A1AA"/>
                </a:solidFill>
                <a:latin typeface="Segoe UI"/>
              </a:defRPr>
            </a:pPr>
            <a:r>
              <a:t>• Non-blocking reads during background writes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310896"/>
          </a:xfrm>
          <a:prstGeom prst="roundRect">
            <a:avLst/>
          </a:prstGeom>
          <a:solidFill>
            <a:srgbClr val="12161D"/>
          </a:solidFill>
          <a:ln w="12700"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LIVE CODEBASE &amp; DATABASE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Production Footprint &amp; Verified System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28600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200"/>
              </a:spcAft>
              <a:defRPr sz="3800" b="1">
                <a:solidFill>
                  <a:srgbClr val="10B981"/>
                </a:solidFill>
                <a:latin typeface="Segoe UI"/>
              </a:defRPr>
            </a:pPr>
            <a:r>
              <a:t>210+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Verified Mutual Funds</a:t>
            </a:r>
          </a:p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Seeded and mapped across Meezan, HBL, Atlas, and Faysal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474720" cy="228600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200"/>
              </a:spcAft>
              <a:defRPr sz="3800" b="1">
                <a:solidFill>
                  <a:srgbClr val="10B981"/>
                </a:solidFill>
                <a:latin typeface="Segoe UI"/>
              </a:defRPr>
            </a:pPr>
            <a:r>
              <a:t>1,770+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Daily NAV History Records</a:t>
            </a:r>
          </a:p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Historical time-series prices indexed in SQLite WAL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554480"/>
            <a:ext cx="3474720" cy="228600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200"/>
              </a:spcAft>
              <a:defRPr sz="3800" b="1">
                <a:solidFill>
                  <a:srgbClr val="10B981"/>
                </a:solidFill>
                <a:latin typeface="Segoe UI"/>
              </a:defRPr>
            </a:pPr>
            <a:r>
              <a:t>1,770+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Performance Metric Records</a:t>
            </a:r>
          </a:p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1-Month, 6-Month, 1-Year, and YTD return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3474720" cy="228600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200"/>
              </a:spcAft>
              <a:defRPr sz="3800" b="1">
                <a:solidFill>
                  <a:srgbClr val="10B981"/>
                </a:solidFill>
                <a:latin typeface="Segoe UI"/>
              </a:defRPr>
            </a:pPr>
            <a:r>
              <a:t>18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Statement Audit Records</a:t>
            </a:r>
          </a:p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Complete transaction ledger tracked in SQLite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977639"/>
            <a:ext cx="3474720" cy="228600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200"/>
              </a:spcAft>
              <a:defRPr sz="3800" b="1">
                <a:solidFill>
                  <a:srgbClr val="10B981"/>
                </a:solidFill>
                <a:latin typeface="Segoe UI"/>
              </a:defRPr>
            </a:pPr>
            <a:r>
              <a:t>26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Macro News Articles</a:t>
            </a:r>
          </a:p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Processed from Dawn &amp; Business Recorder financial feeds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3977639"/>
            <a:ext cx="3474720" cy="228600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01168"/>
          <a:lstStyle/>
          <a:p>
            <a:pPr algn="ctr">
              <a:spcAft>
                <a:spcPts val="200"/>
              </a:spcAft>
              <a:defRPr sz="3800" b="1">
                <a:solidFill>
                  <a:srgbClr val="10B981"/>
                </a:solidFill>
                <a:latin typeface="Segoe UI"/>
              </a:defRPr>
            </a:pPr>
            <a:r>
              <a:t>100%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Alibaba Cloud Qwen 2.5</a:t>
            </a:r>
          </a:p>
          <a:p>
            <a:pPr>
              <a:defRPr sz="1200">
                <a:solidFill>
                  <a:srgbClr val="A1A1AA"/>
                </a:solidFill>
                <a:latin typeface="Segoe UI"/>
              </a:defRPr>
            </a:pPr>
            <a:r>
              <a:t>All AI features powered via DashScope API bindings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310896"/>
          </a:xfrm>
          <a:prstGeom prst="roundRect">
            <a:avLst/>
          </a:prstGeom>
          <a:solidFill>
            <a:srgbClr val="12161D"/>
          </a:solidFill>
          <a:ln w="12700"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SUBMISSION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68096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Project Summary &amp; Reviewer Evaluation Notes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3291840"/>
          </a:xfrm>
          <a:prstGeom prst="roundRect">
            <a:avLst/>
          </a:prstGeom>
          <a:solidFill>
            <a:srgbClr val="181B22"/>
          </a:solidFill>
          <a:ln w="12700"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>
              <a:spcAft>
                <a:spcPts val="1200"/>
              </a:spcAft>
              <a:defRPr sz="1900" b="1">
                <a:solidFill>
                  <a:srgbClr val="10B981"/>
                </a:solidFill>
                <a:latin typeface="Segoe UI"/>
              </a:defRPr>
            </a:pPr>
            <a:r>
              <a:t>Key Takeaways for Evaluation Judges</a:t>
            </a:r>
          </a:p>
          <a:p>
            <a:pPr>
              <a:spcAft>
                <a:spcPts val="1200"/>
              </a:spcAft>
              <a:defRPr sz="13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Comprehensive Problem Solving: </a:t>
            </a:r>
            <a:r>
              <a:rPr>
                <a:solidFill>
                  <a:srgbClr val="A1A1AA"/>
                </a:solidFill>
              </a:rPr>
              <a:t>Reconstructs missing P&amp;L on bank statements, unifies fragmented multi-AMC holdings, and provides authentic AAOIFI Shariah Zakat calculation.</a:t>
            </a:r>
          </a:p>
          <a:p>
            <a:pPr>
              <a:spcAft>
                <a:spcPts val="1200"/>
              </a:spcAft>
              <a:defRPr sz="13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Privacy-First Cloud AI: </a:t>
            </a:r>
            <a:r>
              <a:rPr>
                <a:solidFill>
                  <a:srgbClr val="A1A1AA"/>
                </a:solidFill>
              </a:rPr>
              <a:t>Proven that advanced cloud LLMs (Alibaba Cloud Qwen 2.5) can power retail finance without exposing sensitive PKR balances or user PII.</a:t>
            </a:r>
          </a:p>
          <a:p>
            <a:pPr>
              <a:spcAft>
                <a:spcPts val="1200"/>
              </a:spcAft>
              <a:defRPr sz="1300">
                <a:latin typeface="Segoe UI"/>
              </a:defRPr>
            </a:pPr>
            <a:r>
              <a:rPr b="1">
                <a:solidFill>
                  <a:srgbClr val="FFFFFF"/>
                </a:solidFill>
              </a:rPr>
              <a:t>• Sovereign Pakistani Engineering: </a:t>
            </a:r>
            <a:r>
              <a:rPr>
                <a:solidFill>
                  <a:srgbClr val="A1A1AA"/>
                </a:solidFill>
              </a:rPr>
              <a:t>Built specifically for Pakistan: Playwright scraping of MUFAP (210+ funds), Finance Act 2024 tax compliance, Section 63 VPS pension credits, and Roman Urdu localization.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74920"/>
            <a:ext cx="10698480" cy="1234440"/>
          </a:xfrm>
          <a:prstGeom prst="roundRect">
            <a:avLst/>
          </a:prstGeom>
          <a:solidFill>
            <a:srgbClr val="12161D"/>
          </a:solidFill>
          <a:ln w="12700">
            <a:solidFill>
              <a:srgbClr val="262C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🔗 GitHub Repository: github.com/MBJ420/banoqabil-alibaba-hackathon-fund-tracker</a:t>
            </a:r>
          </a:p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📁 Supporting Attachments: Architecture Diagrams (PNG), AI Privacy Flow (PNG), and Dataset (CSV) in submission_docs/.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